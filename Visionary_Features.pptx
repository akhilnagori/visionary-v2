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6400800"/>
          </a:xfrm>
          <a:prstGeom prst="ellipse">
            <a:avLst/>
          </a:prstGeom>
          <a:solidFill>
            <a:srgbClr val="1C2030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685800"/>
            <a:ext cx="1371600" cy="13716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2" y="987552"/>
            <a:ext cx="768096" cy="768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VISIONARY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31520" y="26974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glasses that read the world aloud.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visually impaired students. One button. No screen. No subscription.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44805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C2030"/>
          </a:solidFill>
          <a:ln w="12700">
            <a:solidFill>
              <a:srgbClr val="2A30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480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IN PARTS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17520" y="4480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C2030"/>
          </a:solidFill>
          <a:ln w="12700">
            <a:solidFill>
              <a:srgbClr val="2A30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577840" y="4480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C2030"/>
          </a:solidFill>
          <a:ln w="12700">
            <a:solidFill>
              <a:srgbClr val="2A30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shouldn't cost $3,000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visually impaired student meets the same wall dozens of times a day: the worksheet being handed out, the page on the board, the paragraph everyone else reads silently. Human help costs independence. Phone apps need aimed screens and busy hands.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wearables exist — priced for clinics, not classrooms. Most schools own zero.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63440" cy="1965960"/>
          </a:xfrm>
          <a:prstGeom prst="roundRect">
            <a:avLst>
              <a:gd name="adj" fmla="val 5581"/>
            </a:avLst>
          </a:prstGeom>
          <a:solidFill>
            <a:srgbClr val="1C2030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0" y="16916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9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$2,000–4,000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949440" y="2606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AI reading glasses (per student)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3657600"/>
            <a:ext cx="4663440" cy="1965960"/>
          </a:xfrm>
          <a:prstGeom prst="roundRect">
            <a:avLst>
              <a:gd name="adj" fmla="val 5581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38862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 bill of materials — every classroom can afford a 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70048" cy="3657600"/>
          </a:xfrm>
          <a:prstGeom prst="roundRect">
            <a:avLst>
              <a:gd name="adj" fmla="val 4110"/>
            </a:avLst>
          </a:prstGeom>
          <a:solidFill>
            <a:srgbClr val="1C2030"/>
          </a:solidFill>
          <a:ln/>
        </p:spPr>
      </p:sp>
      <p:sp>
        <p:nvSpPr>
          <p:cNvPr id="4" name="Shape 2"/>
          <p:cNvSpPr/>
          <p:nvPr/>
        </p:nvSpPr>
        <p:spPr>
          <a:xfrm>
            <a:off x="1426464" y="2057400"/>
            <a:ext cx="914400" cy="914400"/>
          </a:xfrm>
          <a:prstGeom prst="ellipse">
            <a:avLst/>
          </a:prstGeom>
          <a:solidFill>
            <a:srgbClr val="2A304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2585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1546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365760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Head-mounted camera captures what you're facing — one button press, never continuous.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93008" y="1737360"/>
            <a:ext cx="2670048" cy="3657600"/>
          </a:xfrm>
          <a:prstGeom prst="roundRect">
            <a:avLst>
              <a:gd name="adj" fmla="val 4110"/>
            </a:avLst>
          </a:prstGeom>
          <a:solidFill>
            <a:srgbClr val="1C2030"/>
          </a:solidFill>
          <a:ln/>
        </p:spPr>
      </p:sp>
      <p:sp>
        <p:nvSpPr>
          <p:cNvPr id="9" name="Shape 6"/>
          <p:cNvSpPr/>
          <p:nvPr/>
        </p:nvSpPr>
        <p:spPr>
          <a:xfrm>
            <a:off x="4370832" y="2057400"/>
            <a:ext cx="914400" cy="914400"/>
          </a:xfrm>
          <a:prstGeom prst="ellipse">
            <a:avLst/>
          </a:prstGeom>
          <a:solidFill>
            <a:srgbClr val="2A304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5856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75888" y="31546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THINK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21608" y="365760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sends the image to a frontier vision model — reading-order text or a scene description.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37376" y="1737360"/>
            <a:ext cx="2670048" cy="3657600"/>
          </a:xfrm>
          <a:prstGeom prst="roundRect">
            <a:avLst>
              <a:gd name="adj" fmla="val 4110"/>
            </a:avLst>
          </a:prstGeom>
          <a:solidFill>
            <a:srgbClr val="1C2030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0" y="2057400"/>
            <a:ext cx="914400" cy="914400"/>
          </a:xfrm>
          <a:prstGeom prst="ellipse">
            <a:avLst/>
          </a:prstGeom>
          <a:solidFill>
            <a:srgbClr val="2A304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225856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0256" y="31546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SPEAK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665976" y="365760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text-to-speech through a temple speaker. First words in ~4 seconds.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381744" y="1737360"/>
            <a:ext cx="2670048" cy="3657600"/>
          </a:xfrm>
          <a:prstGeom prst="roundRect">
            <a:avLst>
              <a:gd name="adj" fmla="val 4110"/>
            </a:avLst>
          </a:prstGeom>
          <a:solidFill>
            <a:srgbClr val="273052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59568" y="205740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6" y="2258568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64624" y="31546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NO WIFI? FINE.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610344" y="365760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 + on-device voice take over automatically. The glasses never go dumb.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design: press-to-capture only · nothing stored · open source, so you can check.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READING · TIER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C203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04496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93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anything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Worksheets, textbooks, handwriting, menus, signs, pill bottles — spoken in natural reading order, cleaned for speech.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07408" y="169164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C2030"/>
          </a:solidFill>
          <a:ln/>
        </p:spPr>
      </p:sp>
      <p:sp>
        <p:nvSpPr>
          <p:cNvPr id="10" name="Shape 7"/>
          <p:cNvSpPr/>
          <p:nvPr/>
        </p:nvSpPr>
        <p:spPr>
          <a:xfrm>
            <a:off x="4636008" y="192024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732" y="204496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9293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scene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63440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press: objects, people, layout, visible text — framed from your point of view.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66176" y="169164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C2030"/>
          </a:solidFill>
          <a:ln/>
        </p:spPr>
      </p:sp>
      <p:sp>
        <p:nvSpPr>
          <p:cNvPr id="15" name="Shape 11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500" y="204496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6296" y="19293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on sight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522208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text in view, heard in your language. Any language, both directions.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C2030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19380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782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804672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→ on-device OCR + voice, automatically. A student's reading never depends on school WiFi.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07408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C2030"/>
          </a:solidFill>
          <a:ln/>
        </p:spPr>
      </p:sp>
      <p:sp>
        <p:nvSpPr>
          <p:cNvPr id="25" name="Shape 19"/>
          <p:cNvSpPr/>
          <p:nvPr/>
        </p:nvSpPr>
        <p:spPr>
          <a:xfrm>
            <a:off x="4636008" y="406908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732" y="419380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40782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fails silently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66344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status for everything: ready, no text found, battery low.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66176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C2030"/>
          </a:solidFill>
          <a:ln/>
        </p:spPr>
      </p:sp>
      <p:sp>
        <p:nvSpPr>
          <p:cNvPr id="30" name="Shape 23"/>
          <p:cNvSpPr/>
          <p:nvPr/>
        </p:nvSpPr>
        <p:spPr>
          <a:xfrm>
            <a:off x="8494776" y="406908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500" y="4193804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26296" y="40782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All-day simple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8522208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to ready in 30s, 3–4h battery, charges over USB, safe-shutdown gesture.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what you see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· TIER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58368" cy="65836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921" y="1882201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190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what you see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577840" y="166420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button and talk: “which of these is gluten-free?” “what's the homework on the board?” Photo + question → spoken answer.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554480" y="2633472"/>
            <a:ext cx="10058400" cy="0"/>
          </a:xfrm>
          <a:prstGeom prst="line">
            <a:avLst/>
          </a:prstGeom>
          <a:noFill/>
          <a:ln w="9525">
            <a:solidFill>
              <a:srgbClr val="2A30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761488"/>
            <a:ext cx="658368" cy="65836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1" y="2906329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7432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577840" y="2688336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questions, hands-free, with short conversational memory.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554480" y="3657600"/>
            <a:ext cx="10058400" cy="0"/>
          </a:xfrm>
          <a:prstGeom prst="line">
            <a:avLst/>
          </a:prstGeom>
          <a:noFill/>
          <a:ln w="9525">
            <a:solidFill>
              <a:srgbClr val="2A304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785616"/>
            <a:ext cx="658368" cy="65836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3930457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767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recorder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577840" y="371246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press: record → full transcript → AI summary, spoken back and saved.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554480" y="4681728"/>
            <a:ext cx="10058400" cy="0"/>
          </a:xfrm>
          <a:prstGeom prst="line">
            <a:avLst/>
          </a:prstGeom>
          <a:noFill/>
          <a:ln w="9525">
            <a:solidFill>
              <a:srgbClr val="2A304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4809744"/>
            <a:ext cx="658368" cy="65836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21" y="4954585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79145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interpreter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577840" y="473659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conversation mode: their Spanish in your ear as English — your English out loud as Spanish.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Powered by one $7 microphone sharing the audio bus — the whole voice stack adds four wires.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interface is one button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screen. No menus. Muscle memory in a minute — designed to be used without sight.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2834640" cy="603504"/>
          </a:xfrm>
          <a:prstGeom prst="roundRect">
            <a:avLst>
              <a:gd name="adj" fmla="val 50000"/>
            </a:avLst>
          </a:prstGeom>
          <a:solidFill>
            <a:srgbClr val="1C2030"/>
          </a:solidFill>
          <a:ln w="12700">
            <a:solidFill>
              <a:srgbClr val="2A30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205740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what's in front of you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862072"/>
            <a:ext cx="2834640" cy="603504"/>
          </a:xfrm>
          <a:prstGeom prst="roundRect">
            <a:avLst>
              <a:gd name="adj" fmla="val 50000"/>
            </a:avLst>
          </a:prstGeom>
          <a:solidFill>
            <a:srgbClr val="1C2030"/>
          </a:solidFill>
          <a:ln w="12700">
            <a:solidFill>
              <a:srgbClr val="2A3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6207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×2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286207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scene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834640" cy="60350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6674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+ TALK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366674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it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471416"/>
            <a:ext cx="2834640" cy="603504"/>
          </a:xfrm>
          <a:prstGeom prst="roundRect">
            <a:avLst>
              <a:gd name="adj" fmla="val 50000"/>
            </a:avLst>
          </a:prstGeom>
          <a:solidFill>
            <a:srgbClr val="1C2030"/>
          </a:solidFill>
          <a:ln w="12700">
            <a:solidFill>
              <a:srgbClr val="2A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7141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×3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447141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summarize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5276088"/>
            <a:ext cx="2834640" cy="603504"/>
          </a:xfrm>
          <a:prstGeom prst="roundRect">
            <a:avLst>
              <a:gd name="adj" fmla="val 50000"/>
            </a:avLst>
          </a:prstGeom>
          <a:solidFill>
            <a:srgbClr val="1C2030"/>
          </a:solidFill>
          <a:ln w="12700">
            <a:solidFill>
              <a:srgbClr val="2A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7608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5s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527608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down, spoken goodbye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it's going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ROADMAP · TIER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1C203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3A44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025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memory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6243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room number was on that door?” — every capture searchable.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07408" y="178308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1C2030"/>
          </a:solidFill>
          <a:ln/>
        </p:spPr>
      </p:sp>
      <p:sp>
        <p:nvSpPr>
          <p:cNvPr id="10" name="Shape 7"/>
          <p:cNvSpPr/>
          <p:nvPr/>
        </p:nvSpPr>
        <p:spPr>
          <a:xfrm>
            <a:off x="4636008" y="2011680"/>
            <a:ext cx="548640" cy="548640"/>
          </a:xfrm>
          <a:prstGeom prst="ellipse">
            <a:avLst/>
          </a:prstGeom>
          <a:solidFill>
            <a:srgbClr val="3A44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20025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word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26243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Vision” — fully hands-free trigger.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66176" y="178308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1C2030"/>
          </a:solidFill>
          <a:ln/>
        </p:spPr>
      </p:sp>
      <p:sp>
        <p:nvSpPr>
          <p:cNvPr id="15" name="Shape 11"/>
          <p:cNvSpPr/>
          <p:nvPr/>
        </p:nvSpPr>
        <p:spPr>
          <a:xfrm>
            <a:off x="8494776" y="2011680"/>
            <a:ext cx="548640" cy="548640"/>
          </a:xfrm>
          <a:prstGeom prst="ellipse">
            <a:avLst/>
          </a:prstGeom>
          <a:solidFill>
            <a:srgbClr val="3A446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77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20025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assist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22208" y="26243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and sign callouts as you walk.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1C2030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3A446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056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actions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04672" y="472744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this flyer's date to my calendar.” Seen → done.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07408" y="388620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1C2030"/>
          </a:solidFill>
          <a:ln/>
        </p:spPr>
      </p:sp>
      <p:sp>
        <p:nvSpPr>
          <p:cNvPr id="25" name="Shape 19"/>
          <p:cNvSpPr/>
          <p:nvPr/>
        </p:nvSpPr>
        <p:spPr>
          <a:xfrm>
            <a:off x="4636008" y="4114800"/>
            <a:ext cx="548640" cy="548640"/>
          </a:xfrm>
          <a:prstGeom prst="ellipse">
            <a:avLst/>
          </a:prstGeom>
          <a:solidFill>
            <a:srgbClr val="3A446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42355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1808" y="41056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app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63440" y="472744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remote trigger, live view, settings — parents &amp; teachers.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66176" y="388620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1C2030"/>
          </a:solidFill>
          <a:ln/>
        </p:spPr>
      </p:sp>
      <p:sp>
        <p:nvSpPr>
          <p:cNvPr id="30" name="Shape 23"/>
          <p:cNvSpPr/>
          <p:nvPr/>
        </p:nvSpPr>
        <p:spPr>
          <a:xfrm>
            <a:off x="8494776" y="4114800"/>
            <a:ext cx="548640" cy="548640"/>
          </a:xfrm>
          <a:prstGeom prst="ellipse">
            <a:avLst/>
          </a:prstGeom>
          <a:solidFill>
            <a:srgbClr val="3A446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5477" y="42355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0576" y="41056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edition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522208" y="472744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sets + teacher dashboard, grant-funded distribution.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magic, 30× cheaper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435608"/>
            <a:ext cx="2468880" cy="4544568"/>
          </a:xfrm>
          <a:prstGeom prst="roundRect">
            <a:avLst>
              <a:gd name="adj" fmla="val 3704"/>
            </a:avLst>
          </a:prstGeom>
          <a:solidFill>
            <a:srgbClr val="1C203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8328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VISIONARY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6072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9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OrCam MyEye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9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 R1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149840" y="150876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9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apps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258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BOM · $99 kit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22585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$2,000–4,000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2585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0" y="225856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“free” + $1k phone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11064240" cy="0"/>
          </a:xfrm>
          <a:prstGeom prst="line">
            <a:avLst/>
          </a:prstGeom>
          <a:noFill/>
          <a:ln w="6350">
            <a:solidFill>
              <a:srgbClr val="2A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083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Hands-free, your POV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00837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30083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300837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49840" y="300837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11064240" cy="0"/>
          </a:xfrm>
          <a:prstGeom prst="line">
            <a:avLst/>
          </a:prstGeom>
          <a:noFill/>
          <a:ln w="6350">
            <a:solidFill>
              <a:srgbClr val="2A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581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7581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37581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375818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49840" y="3758184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6350">
            <a:solidFill>
              <a:srgbClr val="2A30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07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5079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45079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45079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49840" y="4507992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184648"/>
            <a:ext cx="11064240" cy="0"/>
          </a:xfrm>
          <a:prstGeom prst="line">
            <a:avLst/>
          </a:prstGeom>
          <a:noFill/>
          <a:ln w="6350">
            <a:solidFill>
              <a:srgbClr val="2A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classrooms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83280" y="5257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60720" y="5257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market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46720" y="5257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149840" y="525780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trade: they have industrial design and certifications. We have a price every school can say yes to — and a platform anyone can improve.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6400800" cy="6400800"/>
          </a:xfrm>
          <a:prstGeom prst="ellipse">
            <a:avLst/>
          </a:prstGeom>
          <a:solidFill>
            <a:srgbClr val="1C203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it. Press the button.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take one home.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— you solder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+ printed frame + preloaded SD + full docs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33832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0916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2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KIT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with premium frame print &amp; starter cloud credit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33832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5820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tested, focused — ready out of the box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founder units · ships within 6 weeks · scan the QR at the booth to reserve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</a:t>
            </a:r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Open Sauce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2026-07-17T05:27:01Z</dcterms:created>
  <dcterms:modified xsi:type="dcterms:W3CDTF">2026-07-17T05:27:01Z</dcterms:modified>
</cp:coreProperties>
</file>